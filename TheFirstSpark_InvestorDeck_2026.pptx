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SPARK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Conscious Code in Motion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people who know reality is programmable.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88720" y="4023360"/>
            <a:ext cx="1645920" cy="365760"/>
          </a:xfrm>
          <a:prstGeom prst="rect">
            <a:avLst/>
          </a:prstGeom>
          <a:solidFill>
            <a:srgbClr val="12121A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ROUND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71800" y="4023360"/>
            <a:ext cx="1645920" cy="365760"/>
          </a:xfrm>
          <a:prstGeom prst="rect">
            <a:avLst/>
          </a:prstGeom>
          <a:solidFill>
            <a:srgbClr val="12121A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7180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$200K RAISE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4023360"/>
            <a:ext cx="1645920" cy="365760"/>
          </a:xfrm>
          <a:prstGeom prst="rect">
            <a:avLst/>
          </a:prstGeom>
          <a:solidFill>
            <a:srgbClr val="12121A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 EQUITY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37960" y="4023360"/>
            <a:ext cx="1645920" cy="365760"/>
          </a:xfrm>
          <a:prstGeom prst="rect">
            <a:avLst/>
          </a:prstGeom>
          <a:solidFill>
            <a:srgbClr val="12121A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$800K PRE-MONEY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kate@thefirstspark.shop  •  thefirstspark.shop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6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Built. Already Live.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65960" cy="210312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37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97480" y="1554480"/>
            <a:ext cx="1965960" cy="210312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373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2697480" y="2971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46320" y="1554480"/>
            <a:ext cx="1965960" cy="210312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7373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4846320" y="2971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95160" y="1554480"/>
            <a:ext cx="1965960" cy="210312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7373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6995160" y="29718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infrastructure across GitHub Pages, Netlify, and Whop. Payment systems operational. No vaporware.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434840"/>
            <a:ext cx="2560320" cy="41148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22" name="Text 16"/>
          <p:cNvSpPr/>
          <p:nvPr/>
        </p:nvSpPr>
        <p:spPr>
          <a:xfrm>
            <a:off x="548640" y="4434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↗  LIVE: thefirstspark.shop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$4.2T Wellness Industry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Missing Something.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73152" cy="77724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 books with no interactivity. Expensive therapists. Shallow wellness apps. No bridge between depth and accessibility.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73152" cy="77724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Sacred Tech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optimize for engagement, not evolution. They're selling calm, not transformation.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73152" cy="77724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Lonely Journey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transformation is isolating. No community holds space for real inner work without gatekeeping or dogma.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103120"/>
            <a:ext cx="3657600" cy="2651760"/>
          </a:xfrm>
          <a:prstGeom prst="rect">
            <a:avLst/>
          </a:prstGeom>
          <a:solidFill>
            <a:srgbClr val="1212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377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$4.2T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0292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Wellness Market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5661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5-10% annually.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apps alone: $2.2B by 2027.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none truly bridge ancient wisdom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modern digital tools.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6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Headspace Meets Notion.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Inner Work.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1212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"Reality is programmable. Consciousness is the code."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517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8803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90+ Interactive Tools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mapping, sigil generation, consciousness trackers, ritual frameworks. Built and battle-tested.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2697480"/>
            <a:ext cx="26517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803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Community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3886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Whop-based membership with tiered access, live sessions, and Discord for deep players.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2697480"/>
            <a:ext cx="2651760" cy="201168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8803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Philosophical OS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38862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Selector Model: treating reality as programmable code, consciousness as the interface.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3B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Revenue Streams.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Mostly Automated.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280160"/>
          </a:xfrm>
          <a:prstGeom prst="rect">
            <a:avLst/>
          </a:prstGeom>
          <a:solidFill>
            <a:srgbClr val="12121A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Subs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$33/mo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Lounge tier. Auto-billed via Whop. Full tool access + Discord + live sessions.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51760" cy="1280160"/>
          </a:xfrm>
          <a:prstGeom prst="rect">
            <a:avLst/>
          </a:prstGeom>
          <a:solidFill>
            <a:srgbClr val="12121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Lifetime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$519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 Spark tier. Lump-sum, high-margin, permanent access. Cash flow + loyalty.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51760" cy="128016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Soul Maps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$111+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Hand-decoded personalized consciousness maps. NFT collection on Base blockchain.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2651760" cy="1280160"/>
          </a:xfrm>
          <a:prstGeom prst="rect">
            <a:avLst/>
          </a:prstGeom>
          <a:solidFill>
            <a:srgbClr val="12121A"/>
          </a:solidFill>
          <a:ln w="12700">
            <a:solidFill>
              <a:srgbClr val="26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10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Licensing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MARGIN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tool packages for wellness creators, coaches, and brands.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3200400"/>
            <a:ext cx="2651760" cy="1280160"/>
          </a:xfrm>
          <a:prstGeom prst="rect">
            <a:avLst/>
          </a:prstGeom>
          <a:solidFill>
            <a:srgbClr val="12121A"/>
          </a:solidFill>
          <a:ln w="12700">
            <a:solidFill>
              <a:srgbClr val="6B4D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310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Zero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ASSET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Memoir + true crime + spiritual awakening. Serial-level IP. Content funnel driver.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200400"/>
            <a:ext cx="2651760" cy="1280160"/>
          </a:xfrm>
          <a:prstGeom prst="rect">
            <a:avLst/>
          </a:prstGeom>
          <a:solidFill>
            <a:srgbClr val="12121A"/>
          </a:solidFill>
          <a:ln w="12700">
            <a:solidFill>
              <a:srgbClr val="F3B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101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B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AI on First Spark content. Highest margin product in pipeline.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Is the Consciousness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Inflection Point.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280160" cy="36576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2020-23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Collective Awakening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240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forced millions into self-reflection. Meditation app downloads 2x. Therapy demand exploded.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280160" cy="36576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Democratization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3246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founders can now build what took teams of 20. The infrastructure gap is closing.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280160" cy="36576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Conscious Tech Wave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4251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movers in spiritual-meets-tech will define the category. We're already here.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2286000" cy="2834640"/>
          </a:xfrm>
          <a:prstGeom prst="rect">
            <a:avLst/>
          </a:prstGeom>
          <a:solidFill>
            <a:srgbClr val="12121A"/>
          </a:solidFill>
          <a:ln w="25400">
            <a:solidFill>
              <a:srgbClr val="D4AF37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148840"/>
            <a:ext cx="731520" cy="7315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92240" y="2971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Mover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92240" y="35661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tools already built.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growing.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live.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investing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— you're investing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execution.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4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FOUNDER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Katelin Jill Puzakulics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&amp; CEO  •  Akron, Ohio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is autobiography turned into technology.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developer who built 90+ consciousness tools solo. Single mother of two. Survived profound early trauma and turned the insight that "reality is programmable" into a platform.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pitch for something that might get built. The infrastructure exists. You're investing in scaling what already works.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160020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2219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Voyage Ohio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"Hidden Gems"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3749040"/>
            <a:ext cx="160020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82219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4069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tools built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engineering team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3749040"/>
            <a:ext cx="1600200" cy="1005840"/>
          </a:xfrm>
          <a:prstGeom prst="rect">
            <a:avLst/>
          </a:prstGeom>
          <a:solidFill>
            <a:srgbClr val="12121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3822192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4069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Earthship community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Spark Station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1737360"/>
            <a:ext cx="2926080" cy="3017520"/>
          </a:xfrm>
          <a:prstGeom prst="rect">
            <a:avLst/>
          </a:prstGeom>
          <a:solidFill>
            <a:srgbClr val="1212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MOAT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0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43600" y="292608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story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advantage.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Trauma. Awakening.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engineering.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parenting.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origin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irreplicable.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6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Path to $1M ARR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7315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34440" y="1508760"/>
            <a:ext cx="22860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508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508760"/>
            <a:ext cx="128016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508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384048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73152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2103120"/>
            <a:ext cx="228600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103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Players + 20 OG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103120"/>
            <a:ext cx="128016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1031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103120"/>
            <a:ext cx="384048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031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Spark Station deployed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97480"/>
            <a:ext cx="73152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6974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34440" y="2697480"/>
            <a:ext cx="228600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26974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members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2697480"/>
            <a:ext cx="128016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6974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697480"/>
            <a:ext cx="384048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Zero published, licensing live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291840"/>
            <a:ext cx="73152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2918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34440" y="3291840"/>
            <a:ext cx="228600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3291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ecosystem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3291840"/>
            <a:ext cx="128016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2918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291840"/>
            <a:ext cx="3840480" cy="594360"/>
          </a:xfrm>
          <a:prstGeom prst="rect">
            <a:avLst/>
          </a:prstGeom>
          <a:solidFill>
            <a:srgbClr val="12121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291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AI, land project begins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assumptions: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4251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2% conversion from free → paid (industry avg is 3-5%)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4531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$33/mo × 12 = $396/yr LTV minimum per Players Lounge member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6542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paid acquisition assumed — organic + content only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3B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$200K Goes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Spark Station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1600200"/>
            <a:ext cx="45720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1600200"/>
            <a:ext cx="1371600" cy="256032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5544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van, equipment, first tour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Infrastructure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2258568"/>
            <a:ext cx="45720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3108960" y="2258568"/>
            <a:ext cx="1143000" cy="256032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2128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$50K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 fine-tuning, hosting,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Marketing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08960" y="2916936"/>
            <a:ext cx="45720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108960" y="2916936"/>
            <a:ext cx="914400" cy="256032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287121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$40K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1638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Zero production, video, paid growth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5295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3575304"/>
            <a:ext cx="45720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3108960" y="3575304"/>
            <a:ext cx="685800" cy="256032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352958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22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upgrades, new tool development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1879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Reserve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08960" y="4233672"/>
            <a:ext cx="45720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3108960" y="4233672"/>
            <a:ext cx="457200" cy="256032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4187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$20K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480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runway buffer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solidFill>
            <a:srgbClr val="12121A"/>
          </a:solidFill>
          <a:ln w="12700">
            <a:solidFill>
              <a:srgbClr val="26E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founder salary until profitable. Every dollar goes to building.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6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INVESTMENT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$200,000 for 20% Equity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 Pre-Money  •  SAFE Note  •  Founder-First Terms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315468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profit distributions once operational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53872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926080" y="3538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buyout option or fair market value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392277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926080" y="39227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reporting transparency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2743200" y="4251960"/>
            <a:ext cx="3657600" cy="54864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13" name="Text 7"/>
          <p:cNvSpPr/>
          <p:nvPr/>
        </p:nvSpPr>
        <p:spPr>
          <a:xfrm>
            <a:off x="2743200" y="4251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LET'S BUILD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kate@thefirstspark.shop  •  (330) 807-5509  •  thefirstspark.shop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First Spark - Investor Deck</dc:title>
  <dc:subject>Seed Investment Opportunity</dc:subject>
  <dc:creator>Katelin Jill Puzakulics</dc:creator>
  <cp:lastModifiedBy>Katelin Jill Puzakulics</cp:lastModifiedBy>
  <cp:revision>1</cp:revision>
  <dcterms:created xsi:type="dcterms:W3CDTF">2026-04-01T07:05:13Z</dcterms:created>
  <dcterms:modified xsi:type="dcterms:W3CDTF">2026-04-01T07:05:13Z</dcterms:modified>
</cp:coreProperties>
</file>